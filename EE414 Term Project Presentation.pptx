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Young Serif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EAD1C7-029E-489B-AB6F-1C8D22FC2CB5}">
  <a:tblStyle styleId="{39EAD1C7-029E-489B-AB6F-1C8D22FC2C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YoungSerif-regular.fnt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4f18478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4f18478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4f18478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4f18478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4f18478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4f18478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4f18478b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4f18478b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4f18478bc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4f18478bc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4f18478bc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4f18478bc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18478bc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18478bc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4f18478b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4f18478b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4f18478b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4f18478b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4f18478b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4f18478b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4f18478b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4f18478b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4f18478bc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4f18478bc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4f18478bc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4f18478bc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4f18478bc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4f18478bc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4f18478bc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4f18478b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4f18478bc_2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4f18478bc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EE414 Term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374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65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Ahmet Emre Eser</a:t>
            </a:r>
            <a:endParaRPr sz="165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65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Sena Güneş Şirinler</a:t>
            </a:r>
            <a:endParaRPr sz="25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Network Topologies</a:t>
            </a:r>
            <a:endParaRPr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88450" y="2146900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Three-node configuration with controlled traffic generation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load variation from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Mbps to 10 Mbps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throughput and delay metrics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146875" y="2146900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topology with multiple nodes and a router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TCP NewReno and TCP Vegas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variation from 10 Mbps to 100 Mbps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analysis of throughput, delay, and packet loss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56150" y="1535400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A: Point-to-Point Network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714575" y="1535400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B: LAN Configuration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A: Point-to-Point Network: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</a:br>
            <a:r>
              <a:rPr lang="en" sz="25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Experimental Setup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2624400" y="1965650"/>
            <a:ext cx="38952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topology: Three-node configuration</a:t>
            </a:r>
            <a:b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(Node A → Router B → Node C)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characteristics: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rate: 5 Mbps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delay: 2 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 size: 1024 bytes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variation: 1 Mbps to 10 Mbps in </a:t>
            </a:r>
            <a:b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Mbps increments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A: Point-to-Point Network:</a:t>
            </a:r>
            <a:br>
              <a:rPr lang="en" sz="25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</a:br>
            <a:endParaRPr sz="25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552"/>
              <a:buFont typeface="Arial"/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Results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49713" l="0" r="0" t="0"/>
          <a:stretch/>
        </p:blipFill>
        <p:spPr>
          <a:xfrm>
            <a:off x="68700" y="676275"/>
            <a:ext cx="55911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0" l="0" r="0" t="49461"/>
          <a:stretch/>
        </p:blipFill>
        <p:spPr>
          <a:xfrm>
            <a:off x="68700" y="2755900"/>
            <a:ext cx="5591175" cy="1695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17"/>
          <p:cNvGraphicFramePr/>
          <p:nvPr/>
        </p:nvGraphicFramePr>
        <p:xfrm>
          <a:off x="5659888" y="77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{39EAD1C7-029E-489B-AB6F-1C8D22FC2CB5}</a:tableStyleId>
              </a:tblPr>
              <a:tblGrid>
                <a:gridCol w="806100"/>
                <a:gridCol w="1517675"/>
                <a:gridCol w="10213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Load (Mbps)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Throughput (Mbps)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Delay (ms)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1.02751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7.3728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2.05334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7.3728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3.07917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7.3728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4.10499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7.3728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4.98483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28.7438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7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4.98483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206.695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4.98483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528.309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4.98483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773.127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4.98483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964.305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4.98484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1117.91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83" name="Google Shape;83;p17"/>
          <p:cNvSpPr txBox="1"/>
          <p:nvPr/>
        </p:nvSpPr>
        <p:spPr>
          <a:xfrm>
            <a:off x="5659950" y="4372925"/>
            <a:ext cx="3345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Table 1: Metrics obtained for part A. Contents copies from a_metrics.csv file produced by the simulation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095625" y="2362200"/>
            <a:ext cx="353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1: Throughput vs Load Graph with UDP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054838" y="4372925"/>
            <a:ext cx="36189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2: Delay vs Load Graph for configuration with UDP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072000" y="0"/>
            <a:ext cx="30000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Results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A: Point-to-Point Network: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Analysis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Point-to-Point Network</a:t>
            </a: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: Analysis</a:t>
            </a:r>
            <a:endParaRPr sz="2600"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399500" y="1742625"/>
            <a:ext cx="45936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throughput vs. load graph shows three distinct regions: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Growth (1-4 Mbps): Throughput increases linearly with load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(4-5 Mbps): Growth rate decreases as network approaches capacity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Saturation (&gt;5 Mbps): Throughput plateaus at approximately 5 Mbps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can handle loads below ~4Mbps comfortably, however channel rate imposes a hard limit on the maximum throughput, as a result network throughput saturates for load values greater than 5Mbps.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146875" y="1854425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Vegas: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average delay (~0.02s)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consistent delay across loads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delay management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NewReno: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average delay (~0.1s)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variable delay characteristics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sensitivity to load changes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788900" y="1215575"/>
            <a:ext cx="3814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Throughput Performance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714575" y="1215575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Delay </a:t>
            </a: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Characteristics</a:t>
            </a: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 (UDP)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180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Point-to-Point Network</a:t>
            </a: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: Analysis</a:t>
            </a:r>
            <a:endParaRPr sz="2600"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2054150" y="1132725"/>
            <a:ext cx="4603800" cy="2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delay vs load graph characteristics show three distinct regions: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Region (1-4 Mbps): For low loads, the delay remains constant and very low (~0 ms).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Sharp Increase (4-5 Mbps): Delay jumps significantly.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(&gt;5 Mbps): Delay saturates at approximately 20 ms for higher loads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268788" y="691725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Delay Characteristics (TCP)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0" l="0" r="0" t="50049"/>
          <a:stretch/>
        </p:blipFill>
        <p:spPr>
          <a:xfrm>
            <a:off x="1776413" y="3075875"/>
            <a:ext cx="5591175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3519125" y="4626300"/>
            <a:ext cx="2480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3: Delay vs Load Graph (UDP)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B: LAN Configuration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</a:br>
            <a:r>
              <a:rPr lang="en" sz="25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Experimental Setup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1494900" y="1965650"/>
            <a:ext cx="61542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Extended topology: LAN (A1, A2, A3) → Router B → Node C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Network parameters: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LAN data rate: 100 Mbps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LAN delay: 1 ms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Packet size: 512 bytes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TCP variants tested: NewReno and Vegas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Load variation: 10 Mbps to 100 Mbps in 10 Mbps increments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B: LAN Configuration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Results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 rotWithShape="1">
          <a:blip r:embed="rId3">
            <a:alphaModFix/>
          </a:blip>
          <a:srcRect b="66563" l="0" r="0" t="0"/>
          <a:stretch/>
        </p:blipFill>
        <p:spPr>
          <a:xfrm>
            <a:off x="1144928" y="616050"/>
            <a:ext cx="6854125" cy="1249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35001" l="0" r="0" t="34686"/>
          <a:stretch/>
        </p:blipFill>
        <p:spPr>
          <a:xfrm>
            <a:off x="1144953" y="2234038"/>
            <a:ext cx="6854133" cy="11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 rotWithShape="1">
          <a:blip r:embed="rId3">
            <a:alphaModFix/>
          </a:blip>
          <a:srcRect b="3425" l="0" r="0" t="66363"/>
          <a:stretch/>
        </p:blipFill>
        <p:spPr>
          <a:xfrm>
            <a:off x="1144938" y="3735275"/>
            <a:ext cx="6854125" cy="11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2757588" y="1808250"/>
            <a:ext cx="3628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4: Packet Loss vs Load Graph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2757575" y="3322775"/>
            <a:ext cx="3628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5: Throughput vs Load Graph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2757563" y="4837300"/>
            <a:ext cx="3628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6: Delay vs Load Graph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3072013" y="0"/>
            <a:ext cx="30000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Results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24"/>
          <p:cNvGraphicFramePr/>
          <p:nvPr/>
        </p:nvGraphicFramePr>
        <p:xfrm>
          <a:off x="203225" y="84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{39EAD1C7-029E-489B-AB6F-1C8D22FC2CB5}</a:tableStyleId>
              </a:tblPr>
              <a:tblGrid>
                <a:gridCol w="739175"/>
                <a:gridCol w="1317600"/>
                <a:gridCol w="1346000"/>
                <a:gridCol w="1118475"/>
              </a:tblGrid>
              <a:tr h="4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Load (Mbps)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Throughput (Mbps)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Delay (s)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Packet Loss (%)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2.40129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0.131236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1.6548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2.40589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0.127825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1.69036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2.30973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0.0917251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1.50391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2.40241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0.130096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1.67308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2.40635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0.129053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1.67019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2.40641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0.132501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1.72712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2.40193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0.129021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1.65448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2.39865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0.12951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1.69459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2.39676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0.129056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1.73377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2.26475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0.0910524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1.47269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137" name="Google Shape;137;p24"/>
          <p:cNvGraphicFramePr/>
          <p:nvPr/>
        </p:nvGraphicFramePr>
        <p:xfrm>
          <a:off x="4917225" y="84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{39EAD1C7-029E-489B-AB6F-1C8D22FC2CB5}</a:tableStyleId>
              </a:tblPr>
              <a:tblGrid>
                <a:gridCol w="731850"/>
                <a:gridCol w="1057275"/>
                <a:gridCol w="1021125"/>
                <a:gridCol w="1192900"/>
              </a:tblGrid>
              <a:tr h="42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Load (Mbps)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Throughput (Mbps)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Delay (s)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Packet Loss (%)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2.4508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0.0157642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0.0766871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2.44776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0.011525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0.134305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2.45171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0.0114256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0.114943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2.44094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0.0195606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0.192308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2.45167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0.014683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0.153198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2.44392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0.011493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0.134538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2.45124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0.0113961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0.114987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2.45596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0.0145081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0.0956389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2.44478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0.0209431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0.230282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6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2.44706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0.0167967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0.153521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38" name="Google Shape;138;p24"/>
          <p:cNvSpPr txBox="1"/>
          <p:nvPr/>
        </p:nvSpPr>
        <p:spPr>
          <a:xfrm>
            <a:off x="232600" y="4364875"/>
            <a:ext cx="4462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2: Metrics for TCP New Reno. Contents copies from b_metrics.csv file produced by the simulation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4687550" y="4364875"/>
            <a:ext cx="4462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3: Metrics for TCP Vegas. Contents copies from b_metrics.csv file produced by the simulation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3072000" y="21125"/>
            <a:ext cx="30000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Results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Section B: LAN Configuration</a:t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22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Analysis</a:t>
            </a:r>
            <a:endParaRPr sz="4422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LAN Configuration: Analysis</a:t>
            </a:r>
            <a:endParaRPr sz="2600"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430000" y="1994500"/>
            <a:ext cx="38268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Vegas: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consistent throughput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(~2.45 Mbps)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better stability across different loads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variation in performance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NewReno: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Slightly lower average throughput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(~2.4 Mbps)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variable performance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drop at high loads (100 Mbps)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5146875" y="1994500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Vegas: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average delay (~0.02s)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consistent delay across loads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delay management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NewReno: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average delay (~0.1s)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variable delay characteristics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sensitivity to load changes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256150" y="1535400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Throughput Performance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714575" y="1535400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Delay Characteristics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LAN Configuration: Analysis</a:t>
            </a:r>
            <a:endParaRPr sz="2600"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658600" y="1735400"/>
            <a:ext cx="38268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Vegas: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packet loss (&lt;0.5%)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performance across loads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congestion avoidance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NewReno: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packet loss (~1.5%)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variable loss characteristics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Reactive rather than proactive congestion control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2484750" y="1276300"/>
            <a:ext cx="4174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Packet Loss</a:t>
            </a:r>
            <a:endParaRPr sz="1800">
              <a:solidFill>
                <a:srgbClr val="03045E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03045E"/>
                </a:solidFill>
                <a:latin typeface="Young Serif"/>
                <a:ea typeface="Young Serif"/>
                <a:cs typeface="Young Serif"/>
                <a:sym typeface="Young Serif"/>
              </a:rPr>
              <a:t>TCP New Reno and Vegas Comparison and Recommendations</a:t>
            </a:r>
            <a:endParaRPr sz="2600"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630300" y="1573425"/>
            <a:ext cx="78834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Vegas demonstrates superior performance in this network configuration: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stability in throughput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and more consistent delay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Significantly lower packet loss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efficient congestion management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proactive approach of TCP Vegas, which uses RTT variations to detect potential congestion, proves more effective than NewReno's reactive loss-based approach. Vegas's ability to maintain stable performance while keeping buffer occupancy low makes it particularly suitable for: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Networks requiring consistent performance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sensitive to delay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Scenarios where packet loss is costly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b="4058" l="0" r="0" t="0"/>
          <a:stretch/>
        </p:blipFill>
        <p:spPr>
          <a:xfrm>
            <a:off x="2472575" y="661274"/>
            <a:ext cx="4198849" cy="366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